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App count</c:v>
                </c:pt>
              </c:strCache>
            </c:strRef>
          </c:tx>
          <c:spPr>
            <a:solidFill>
              <a:srgbClr val="1B8A5A"/>
            </a:solidFill>
            <a:effectLst/>
          </c:spPr>
          <c:invertIfNegative val="0"/>
          <c:dLbls>
            <c:numFmt formatCode="#,##0" sourceLinked="0"/>
            <c:spPr>
              <a:noFill/>
              <a:ln>
                <a:noFill/>
              </a:ln>
              <a:effectLst/>
            </c:spPr>
            <c:txPr>
              <a:bodyPr/>
              <a:lstStyle/>
              <a:p>
                <a:pPr>
                  <a:defRPr sz="1000" b="0" i="0" u="none" strike="noStrike">
                    <a:solidFill>
                      <a:srgbClr val="2B2F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Family</c:v>
                </c:pt>
                <c:pt idx="1">
                  <c:v>Game</c:v>
                </c:pt>
                <c:pt idx="2">
                  <c:v>Tools</c:v>
                </c:pt>
                <c:pt idx="3">
                  <c:v>Business</c:v>
                </c:pt>
                <c:pt idx="4">
                  <c:v>Medical</c:v>
                </c:pt>
                <c:pt idx="5">
                  <c:v>Personalization</c:v>
                </c:pt>
                <c:pt idx="6">
                  <c:v>Productivity</c:v>
                </c:pt>
                <c:pt idx="7">
                  <c:v>Lifestyle</c:v>
                </c:pt>
              </c:strCache>
            </c:strRef>
          </c:cat>
          <c:val>
            <c:numRef>
              <c:f>Sheet1!$B$2:$B$9</c:f>
              <c:numCache>
                <c:formatCode>General</c:formatCode>
                <c:ptCount val="8"/>
                <c:pt idx="0">
                  <c:v>1832</c:v>
                </c:pt>
                <c:pt idx="1">
                  <c:v>959</c:v>
                </c:pt>
                <c:pt idx="2">
                  <c:v>827</c:v>
                </c:pt>
                <c:pt idx="3">
                  <c:v>420</c:v>
                </c:pt>
                <c:pt idx="4">
                  <c:v>395</c:v>
                </c:pt>
                <c:pt idx="5">
                  <c:v>376</c:v>
                </c:pt>
                <c:pt idx="6">
                  <c:v>374</c:v>
                </c:pt>
                <c:pt idx="7">
                  <c:v>369</c:v>
                </c:pt>
              </c:numCache>
            </c:numRef>
          </c:val>
          <c:extLst>
            <c:ext xmlns:c16="http://schemas.microsoft.com/office/drawing/2014/chart" uri="{C3380CC4-5D6E-409C-BE32-E72D297353CC}">
              <c16:uniqueId val="{00000000-F59D-43C2-A84A-7A843A2D819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F3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74177412606034"/>
          <c:y val="9.0710943740728064E-2"/>
          <c:w val="0.73855533683289587"/>
          <c:h val="0.73855533683289587"/>
        </c:manualLayout>
      </c:layout>
      <c:doughnut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1B8A5A"/>
              </a:solidFill>
              <a:effectLst/>
            </c:spPr>
            <c:extLst>
              <c:ext xmlns:c16="http://schemas.microsoft.com/office/drawing/2014/chart" uri="{C3380CC4-5D6E-409C-BE32-E72D297353CC}">
                <c16:uniqueId val="{00000001-AE41-4C03-B60D-27F5AF2DD19C}"/>
              </c:ext>
            </c:extLst>
          </c:dPt>
          <c:dPt>
            <c:idx val="1"/>
            <c:bubble3D val="0"/>
            <c:spPr>
              <a:solidFill>
                <a:srgbClr val="E3E5E7"/>
              </a:solidFill>
              <a:effectLst/>
            </c:spPr>
            <c:extLst>
              <c:ext xmlns:c16="http://schemas.microsoft.com/office/drawing/2014/chart" uri="{C3380CC4-5D6E-409C-BE32-E72D297353CC}">
                <c16:uniqueId val="{00000003-AE41-4C03-B60D-27F5AF2DD19C}"/>
              </c:ext>
            </c:extLst>
          </c:dPt>
          <c:dLbls>
            <c:dLbl>
              <c:idx val="0"/>
              <c:numFmt formatCode="0&quot;%&quot;" sourceLinked="0"/>
              <c:spPr/>
              <c:txPr>
                <a:bodyPr/>
                <a:lstStyle/>
                <a:p>
                  <a:pPr>
                    <a:defRPr sz="13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41-4C03-B60D-27F5AF2DD19C}"/>
                </c:ext>
              </c:extLst>
            </c:dLbl>
            <c:dLbl>
              <c:idx val="1"/>
              <c:numFmt formatCode="0&quot;%&quot;" sourceLinked="0"/>
              <c:spPr/>
              <c:txPr>
                <a:bodyPr/>
                <a:lstStyle/>
                <a:p>
                  <a:pPr>
                    <a:defRPr sz="13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E41-4C03-B60D-27F5AF2DD19C}"/>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Free</c:v>
                </c:pt>
                <c:pt idx="1">
                  <c:v>Paid</c:v>
                </c:pt>
              </c:strCache>
            </c:strRef>
          </c:cat>
          <c:val>
            <c:numRef>
              <c:f>Sheet1!$B$2:$B$3</c:f>
              <c:numCache>
                <c:formatCode>General</c:formatCode>
                <c:ptCount val="2"/>
                <c:pt idx="0">
                  <c:v>92</c:v>
                </c:pt>
                <c:pt idx="1">
                  <c:v>8</c:v>
                </c:pt>
              </c:numCache>
            </c:numRef>
          </c:val>
          <c:extLst>
            <c:ext xmlns:c16="http://schemas.microsoft.com/office/drawing/2014/chart" uri="{C3380CC4-5D6E-409C-BE32-E72D297353CC}">
              <c16:uniqueId val="{00000004-AE41-4C03-B60D-27F5AF2DD19C}"/>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200">
              <a:solidFill>
                <a:srgbClr val="2B2F33"/>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104D9-F371-4662-9D51-968D51B33F44}" type="datetimeFigureOut">
              <a:rPr lang="en-IN" smtClean="0"/>
              <a:t>06-09-2026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56F99-30DF-4C5D-A626-1E69951D9073}" type="slidenum">
              <a:rPr lang="en-IN" smtClean="0"/>
              <a:t>‹#›</a:t>
            </a:fld>
            <a:endParaRPr lang="en-IN"/>
          </a:p>
        </p:txBody>
      </p:sp>
    </p:spTree>
    <p:extLst>
      <p:ext uri="{BB962C8B-B14F-4D97-AF65-F5344CB8AC3E}">
        <p14:creationId xmlns:p14="http://schemas.microsoft.com/office/powerpoint/2010/main" val="122798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DA27-4034-F415-7754-80CAE13E0A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3E8DD1-0A06-C26A-4F1B-EF057123D3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8FEFAE-5F64-461B-839F-8A30F73119D4}"/>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B6A6BAB9-EB4B-8F74-BB7F-02EC51B046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1C134-68B2-E981-EC6E-0E6D6AC89778}"/>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2926297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92BA-92C8-1F53-41AC-F5EAB1363D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BA523D-30DC-2A10-4CE3-B82C4A3D5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872D32-A4BB-FB06-F0AD-4042C281C0F5}"/>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B41CE4A2-827C-7186-9AA8-11E5E4215E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E36A9-BE34-5E1A-5636-8EDA345EA49F}"/>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1136262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FA23B-B9A8-7579-EB79-2E2E6126A6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67791A-CCE3-568D-1C69-7689929054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0F5A47-97EF-9226-D41A-97CB1FB76667}"/>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150817C1-9B10-9141-32FE-1735778960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774FF1-A944-2714-1A25-DA27EA33B278}"/>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212666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4FBD-1015-6B69-EE93-E7F9EFDEE9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06F90E-B68A-47A0-0783-DBEA025033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7729D2-9609-A0EE-5966-A47E875EE3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E19F21-4BB3-4B23-1BB7-B654F5E8D50C}"/>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6" name="Footer Placeholder 5">
            <a:extLst>
              <a:ext uri="{FF2B5EF4-FFF2-40B4-BE49-F238E27FC236}">
                <a16:creationId xmlns:a16="http://schemas.microsoft.com/office/drawing/2014/main" id="{3B59C51D-F8B5-343E-EF41-DC29BC8039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7502A-799D-DB85-FFDA-AF34E77B71C6}"/>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2063522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4146-CFAC-5B7F-6AA2-273A41AD80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98CC2C-EA85-4B03-E149-18712E56B1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B34184-6F0B-2066-9CFD-AA40FBC8A6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9199D8-BE49-2548-2B2A-86762A9347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7ACE2F-AFF4-C5D8-CC4F-954B9B77A7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A26209-42A3-4E51-6D12-A5A2293BFA76}"/>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8" name="Footer Placeholder 7">
            <a:extLst>
              <a:ext uri="{FF2B5EF4-FFF2-40B4-BE49-F238E27FC236}">
                <a16:creationId xmlns:a16="http://schemas.microsoft.com/office/drawing/2014/main" id="{8A074FBC-DF82-1C97-BC6D-93983086B7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41D5E43-60E4-3A7E-9B28-8EA32BC861CE}"/>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819439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4A95-4B3B-CCA2-8CB9-CEC2922CE6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FFA7CF-A215-7AA5-D0E9-E21FC33C515B}"/>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4" name="Footer Placeholder 3">
            <a:extLst>
              <a:ext uri="{FF2B5EF4-FFF2-40B4-BE49-F238E27FC236}">
                <a16:creationId xmlns:a16="http://schemas.microsoft.com/office/drawing/2014/main" id="{332CA1F5-8221-7912-4DDB-56A900E79E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9BC0C5-8C5B-6E51-CC3F-B304E04E181C}"/>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2271044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D74D2A-DD54-8A0B-91AD-937CA37F573B}"/>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3" name="Footer Placeholder 2">
            <a:extLst>
              <a:ext uri="{FF2B5EF4-FFF2-40B4-BE49-F238E27FC236}">
                <a16:creationId xmlns:a16="http://schemas.microsoft.com/office/drawing/2014/main" id="{D77F4C03-F24E-3E1C-924B-526F4B44D5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9BA14F-9527-EDE8-3006-B452DB01066B}"/>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2756197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7FC8F-C4BC-634C-EB0B-70D6826275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EB880A-93A6-DE2D-1DC0-D203026E5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6B4389-E62D-8784-2978-B7E1C28FA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1DB48-2A5C-39F0-71D4-D8F8EF1DEC24}"/>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6" name="Footer Placeholder 5">
            <a:extLst>
              <a:ext uri="{FF2B5EF4-FFF2-40B4-BE49-F238E27FC236}">
                <a16:creationId xmlns:a16="http://schemas.microsoft.com/office/drawing/2014/main" id="{D845B0CD-BBED-1E3F-FB60-AB86ADE6C7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054319-52DE-B1E1-7E15-A33A85FD1854}"/>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889350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3FB0F-FCA7-732F-903D-A73DDE6AC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BDC89C-02C6-978B-A453-CD00D0B162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DF15E5-AD42-D703-E88B-AC0D2AFE8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18E55-CE9E-5FBD-4B72-8DCC1D9D27AF}"/>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6" name="Footer Placeholder 5">
            <a:extLst>
              <a:ext uri="{FF2B5EF4-FFF2-40B4-BE49-F238E27FC236}">
                <a16:creationId xmlns:a16="http://schemas.microsoft.com/office/drawing/2014/main" id="{475BB6BA-0010-A92B-C5B8-A6293E649C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1A3D5E-7C9C-D7DD-F62A-385E048D7FC3}"/>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3587502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3A0B0-89BD-5E60-4FDD-E71F11D56A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E88695-5961-5DE5-7EEA-3E4D0E3A6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A037D2-0CF0-55E1-3EDD-4475DDD75953}"/>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AC9D6231-D3E8-8D60-63BA-2DFDF6EEF3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36320-F04A-E590-CFBE-E5FDCB46C2F1}"/>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3681297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AFBE2-ED10-3276-90F6-3434DE8E5B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E61A49-5F6D-0566-D04E-655CDCF33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059A36-1A0B-0A15-3F6B-B453C33727A5}"/>
              </a:ext>
            </a:extLst>
          </p:cNvPr>
          <p:cNvSpPr>
            <a:spLocks noGrp="1"/>
          </p:cNvSpPr>
          <p:nvPr>
            <p:ph type="dt" sz="half" idx="10"/>
          </p:nvPr>
        </p:nvSpPr>
        <p:spPr/>
        <p:txBody>
          <a:body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AB3A9CD4-39B3-AA43-5E36-27C037B8B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27DE72-914F-42F3-B51A-1B04649B1879}"/>
              </a:ext>
            </a:extLst>
          </p:cNvPr>
          <p:cNvSpPr>
            <a:spLocks noGrp="1"/>
          </p:cNvSpPr>
          <p:nvPr>
            <p:ph type="sldNum" sz="quarter" idx="12"/>
          </p:nvPr>
        </p:nvSpPr>
        <p:spPr/>
        <p:txBody>
          <a:bodyPr/>
          <a:lstStyle/>
          <a:p>
            <a:fld id="{E354E917-D463-4B92-AAF3-12E37DFBBFD0}" type="slidenum">
              <a:rPr lang="en-IN" smtClean="0"/>
              <a:t>‹#›</a:t>
            </a:fld>
            <a:endParaRPr lang="en-IN"/>
          </a:p>
        </p:txBody>
      </p:sp>
    </p:spTree>
    <p:extLst>
      <p:ext uri="{BB962C8B-B14F-4D97-AF65-F5344CB8AC3E}">
        <p14:creationId xmlns:p14="http://schemas.microsoft.com/office/powerpoint/2010/main" val="1635395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35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A29295-1DB2-1FA8-FA8F-9D8E504F74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C6D839-8723-3D5C-9CAB-0697C3157A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8383A-EF8F-7B54-6F24-2D7F4F45A5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93FA4A-3F89-4E82-8C09-632FFB912E75}" type="datetimeFigureOut">
              <a:rPr lang="en-IN" smtClean="0"/>
              <a:t>06-09-2026</a:t>
            </a:fld>
            <a:endParaRPr lang="en-IN"/>
          </a:p>
        </p:txBody>
      </p:sp>
      <p:sp>
        <p:nvSpPr>
          <p:cNvPr id="5" name="Footer Placeholder 4">
            <a:extLst>
              <a:ext uri="{FF2B5EF4-FFF2-40B4-BE49-F238E27FC236}">
                <a16:creationId xmlns:a16="http://schemas.microsoft.com/office/drawing/2014/main" id="{48D7EDB5-E95E-B91A-1056-57FB55127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66EFB6-F2EA-608A-47BF-3CF062599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54E917-D463-4B92-AAF3-12E37DFBBFD0}" type="slidenum">
              <a:rPr lang="en-IN" smtClean="0"/>
              <a:t>‹#›</a:t>
            </a:fld>
            <a:endParaRPr lang="en-IN"/>
          </a:p>
        </p:txBody>
      </p:sp>
    </p:spTree>
    <p:extLst>
      <p:ext uri="{BB962C8B-B14F-4D97-AF65-F5344CB8AC3E}">
        <p14:creationId xmlns:p14="http://schemas.microsoft.com/office/powerpoint/2010/main" val="3907746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C1C73-D4AA-BBF9-F957-3F7F6CAFB0CC}"/>
              </a:ext>
            </a:extLst>
          </p:cNvPr>
          <p:cNvSpPr txBox="1"/>
          <p:nvPr/>
        </p:nvSpPr>
        <p:spPr>
          <a:xfrm>
            <a:off x="0" y="877824"/>
            <a:ext cx="11649456" cy="1261884"/>
          </a:xfrm>
          <a:prstGeom prst="rect">
            <a:avLst/>
          </a:prstGeom>
          <a:noFill/>
        </p:spPr>
        <p:txBody>
          <a:bodyPr wrap="square" rtlCol="0">
            <a:spAutoFit/>
          </a:bodyPr>
          <a:lstStyle/>
          <a:p>
            <a:r>
              <a:rPr lang="en-US" sz="1400" b="1" kern="0" spc="300" dirty="0">
                <a:solidFill>
                  <a:srgbClr val="1B8A5A"/>
                </a:solidFill>
                <a:latin typeface="Calibri" pitchFamily="34" charset="0"/>
                <a:ea typeface="Calibri" pitchFamily="34" charset="-122"/>
                <a:cs typeface="Calibri" pitchFamily="34" charset="-120"/>
              </a:rPr>
              <a:t>EXPLORATORY DATA ANALYSIS</a:t>
            </a:r>
            <a:endParaRPr lang="en-US" sz="1400" dirty="0"/>
          </a:p>
          <a:p>
            <a:endParaRPr lang="en-US" dirty="0">
              <a:solidFill>
                <a:srgbClr val="00B050"/>
              </a:solidFill>
            </a:endParaRPr>
          </a:p>
          <a:p>
            <a:r>
              <a:rPr lang="en-US" sz="4400" b="1" dirty="0">
                <a:latin typeface="Cambria" panose="02040503050406030204" pitchFamily="18" charset="0"/>
                <a:ea typeface="Cambria" panose="02040503050406030204" pitchFamily="18" charset="0"/>
              </a:rPr>
              <a:t>Google Play Store</a:t>
            </a:r>
          </a:p>
        </p:txBody>
      </p:sp>
      <p:pic>
        <p:nvPicPr>
          <p:cNvPr id="6" name="Picture 5">
            <a:extLst>
              <a:ext uri="{FF2B5EF4-FFF2-40B4-BE49-F238E27FC236}">
                <a16:creationId xmlns:a16="http://schemas.microsoft.com/office/drawing/2014/main" id="{0C9011F3-0B3E-4846-2336-888D81716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004" y="2704947"/>
            <a:ext cx="6351447" cy="3569513"/>
          </a:xfrm>
          <a:prstGeom prst="rect">
            <a:avLst/>
          </a:prstGeom>
        </p:spPr>
      </p:pic>
    </p:spTree>
    <p:extLst>
      <p:ext uri="{BB962C8B-B14F-4D97-AF65-F5344CB8AC3E}">
        <p14:creationId xmlns:p14="http://schemas.microsoft.com/office/powerpoint/2010/main" val="3520614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63880" y="371570"/>
            <a:ext cx="11064240" cy="640080"/>
          </a:xfrm>
          <a:prstGeom prst="rect">
            <a:avLst/>
          </a:prstGeom>
          <a:noFill/>
          <a:ln/>
        </p:spPr>
        <p:txBody>
          <a:bodyPr wrap="square" lIns="0" tIns="0" rIns="0" bIns="0"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What this analysis covers</a:t>
            </a:r>
            <a:endParaRPr lang="en-US" sz="3000" dirty="0"/>
          </a:p>
        </p:txBody>
      </p:sp>
      <p:sp>
        <p:nvSpPr>
          <p:cNvPr id="32" name="Rectangle: Rounded Corners 31">
            <a:extLst>
              <a:ext uri="{FF2B5EF4-FFF2-40B4-BE49-F238E27FC236}">
                <a16:creationId xmlns:a16="http://schemas.microsoft.com/office/drawing/2014/main" id="{C2881A9E-8126-89BB-AFE5-0107615E2FC1}"/>
              </a:ext>
            </a:extLst>
          </p:cNvPr>
          <p:cNvSpPr/>
          <p:nvPr/>
        </p:nvSpPr>
        <p:spPr>
          <a:xfrm>
            <a:off x="740664" y="1430024"/>
            <a:ext cx="4480560" cy="1325880"/>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58E1124F-C1BD-7173-056F-324010A65648}"/>
              </a:ext>
            </a:extLst>
          </p:cNvPr>
          <p:cNvSpPr/>
          <p:nvPr/>
        </p:nvSpPr>
        <p:spPr>
          <a:xfrm>
            <a:off x="869569" y="1513332"/>
            <a:ext cx="512064" cy="493776"/>
          </a:xfrm>
          <a:prstGeom prst="ellipse">
            <a:avLst/>
          </a:prstGeom>
          <a:solidFill>
            <a:schemeClr val="accent6">
              <a:lumMod val="60000"/>
              <a:lumOff val="4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34" name="TextBox 33">
            <a:extLst>
              <a:ext uri="{FF2B5EF4-FFF2-40B4-BE49-F238E27FC236}">
                <a16:creationId xmlns:a16="http://schemas.microsoft.com/office/drawing/2014/main" id="{9D186F3A-0F3A-0089-F238-656C179F6AE8}"/>
              </a:ext>
            </a:extLst>
          </p:cNvPr>
          <p:cNvSpPr txBox="1"/>
          <p:nvPr/>
        </p:nvSpPr>
        <p:spPr>
          <a:xfrm>
            <a:off x="1510538" y="1580459"/>
            <a:ext cx="3044952"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Understanding the data</a:t>
            </a:r>
            <a:endParaRPr lang="en-IN" dirty="0">
              <a:latin typeface="Cambria" panose="02040503050406030204" pitchFamily="18" charset="0"/>
              <a:ea typeface="Cambria" panose="02040503050406030204" pitchFamily="18" charset="0"/>
            </a:endParaRPr>
          </a:p>
        </p:txBody>
      </p:sp>
      <p:sp>
        <p:nvSpPr>
          <p:cNvPr id="35" name="TextBox 34">
            <a:extLst>
              <a:ext uri="{FF2B5EF4-FFF2-40B4-BE49-F238E27FC236}">
                <a16:creationId xmlns:a16="http://schemas.microsoft.com/office/drawing/2014/main" id="{147BC52B-21E4-3313-5010-E8CB78FCC9D3}"/>
              </a:ext>
            </a:extLst>
          </p:cNvPr>
          <p:cNvSpPr txBox="1"/>
          <p:nvPr/>
        </p:nvSpPr>
        <p:spPr>
          <a:xfrm>
            <a:off x="1510538" y="1907137"/>
            <a:ext cx="3278124" cy="523220"/>
          </a:xfrm>
          <a:prstGeom prst="rect">
            <a:avLst/>
          </a:prstGeom>
          <a:noFill/>
        </p:spPr>
        <p:txBody>
          <a:bodyPr wrap="square" rtlCol="0">
            <a:spAutoFit/>
          </a:bodyPr>
          <a:lstStyle/>
          <a:p>
            <a:r>
              <a:rPr lang="en-US" sz="1400" dirty="0"/>
              <a:t>Know the actual use and meaning of the given data useful for analysis</a:t>
            </a:r>
            <a:endParaRPr lang="en-IN" sz="1400" dirty="0"/>
          </a:p>
        </p:txBody>
      </p:sp>
      <p:sp>
        <p:nvSpPr>
          <p:cNvPr id="37" name="Rectangle: Rounded Corners 36">
            <a:extLst>
              <a:ext uri="{FF2B5EF4-FFF2-40B4-BE49-F238E27FC236}">
                <a16:creationId xmlns:a16="http://schemas.microsoft.com/office/drawing/2014/main" id="{5AC54F09-D804-4C68-B3BD-8953B4EF2CAB}"/>
              </a:ext>
            </a:extLst>
          </p:cNvPr>
          <p:cNvSpPr/>
          <p:nvPr/>
        </p:nvSpPr>
        <p:spPr>
          <a:xfrm>
            <a:off x="740664" y="3717036"/>
            <a:ext cx="4480560" cy="1325880"/>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Oval 40">
            <a:extLst>
              <a:ext uri="{FF2B5EF4-FFF2-40B4-BE49-F238E27FC236}">
                <a16:creationId xmlns:a16="http://schemas.microsoft.com/office/drawing/2014/main" id="{DB108463-CADC-F815-4B2C-4B6F76D56A90}"/>
              </a:ext>
            </a:extLst>
          </p:cNvPr>
          <p:cNvSpPr/>
          <p:nvPr/>
        </p:nvSpPr>
        <p:spPr>
          <a:xfrm>
            <a:off x="923544" y="3822192"/>
            <a:ext cx="512064" cy="493776"/>
          </a:xfrm>
          <a:prstGeom prst="ellipse">
            <a:avLst/>
          </a:prstGeom>
          <a:solidFill>
            <a:schemeClr val="accent6">
              <a:lumMod val="60000"/>
              <a:lumOff val="4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43" name="Rectangle: Rounded Corners 42">
            <a:extLst>
              <a:ext uri="{FF2B5EF4-FFF2-40B4-BE49-F238E27FC236}">
                <a16:creationId xmlns:a16="http://schemas.microsoft.com/office/drawing/2014/main" id="{79A5E8FF-FE6D-76C6-4694-572FEF3CBE18}"/>
              </a:ext>
            </a:extLst>
          </p:cNvPr>
          <p:cNvSpPr/>
          <p:nvPr/>
        </p:nvSpPr>
        <p:spPr>
          <a:xfrm>
            <a:off x="6480048" y="1404390"/>
            <a:ext cx="4480560" cy="1325880"/>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D157664E-CC6F-32B7-F8D6-E9E1AD6065DC}"/>
              </a:ext>
            </a:extLst>
          </p:cNvPr>
          <p:cNvSpPr/>
          <p:nvPr/>
        </p:nvSpPr>
        <p:spPr>
          <a:xfrm>
            <a:off x="6748272" y="1513332"/>
            <a:ext cx="512064" cy="493776"/>
          </a:xfrm>
          <a:prstGeom prst="ellipse">
            <a:avLst/>
          </a:prstGeom>
          <a:solidFill>
            <a:schemeClr val="accent6">
              <a:lumMod val="60000"/>
              <a:lumOff val="4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49" name="TextBox 48">
            <a:extLst>
              <a:ext uri="{FF2B5EF4-FFF2-40B4-BE49-F238E27FC236}">
                <a16:creationId xmlns:a16="http://schemas.microsoft.com/office/drawing/2014/main" id="{E0962CE9-DDE0-EA20-A7FD-6644BD4ADBE0}"/>
              </a:ext>
            </a:extLst>
          </p:cNvPr>
          <p:cNvSpPr txBox="1"/>
          <p:nvPr/>
        </p:nvSpPr>
        <p:spPr>
          <a:xfrm>
            <a:off x="7280148" y="1544391"/>
            <a:ext cx="3044952"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Cleaning the data</a:t>
            </a:r>
            <a:endParaRPr lang="en-IN" dirty="0">
              <a:latin typeface="Cambria" panose="02040503050406030204" pitchFamily="18" charset="0"/>
              <a:ea typeface="Cambria" panose="02040503050406030204" pitchFamily="18" charset="0"/>
            </a:endParaRPr>
          </a:p>
        </p:txBody>
      </p:sp>
      <p:sp>
        <p:nvSpPr>
          <p:cNvPr id="51" name="TextBox 50">
            <a:extLst>
              <a:ext uri="{FF2B5EF4-FFF2-40B4-BE49-F238E27FC236}">
                <a16:creationId xmlns:a16="http://schemas.microsoft.com/office/drawing/2014/main" id="{EDD9F540-BC6D-2048-F6C8-876F6E145FD9}"/>
              </a:ext>
            </a:extLst>
          </p:cNvPr>
          <p:cNvSpPr txBox="1"/>
          <p:nvPr/>
        </p:nvSpPr>
        <p:spPr>
          <a:xfrm>
            <a:off x="7280148" y="1882664"/>
            <a:ext cx="3278124" cy="738664"/>
          </a:xfrm>
          <a:prstGeom prst="rect">
            <a:avLst/>
          </a:prstGeom>
          <a:noFill/>
        </p:spPr>
        <p:txBody>
          <a:bodyPr wrap="square" rtlCol="0">
            <a:spAutoFit/>
          </a:bodyPr>
          <a:lstStyle/>
          <a:p>
            <a:r>
              <a:rPr lang="en-US" sz="1400" dirty="0"/>
              <a:t>Filling the empty or incorrectly filled data with an appropriate value and removing the unwanted data</a:t>
            </a:r>
            <a:endParaRPr lang="en-IN" sz="1400" dirty="0"/>
          </a:p>
        </p:txBody>
      </p:sp>
      <p:sp>
        <p:nvSpPr>
          <p:cNvPr id="53" name="TextBox 52">
            <a:extLst>
              <a:ext uri="{FF2B5EF4-FFF2-40B4-BE49-F238E27FC236}">
                <a16:creationId xmlns:a16="http://schemas.microsoft.com/office/drawing/2014/main" id="{9810FA47-A253-A373-ED6B-31381C70EDA3}"/>
              </a:ext>
            </a:extLst>
          </p:cNvPr>
          <p:cNvSpPr txBox="1"/>
          <p:nvPr/>
        </p:nvSpPr>
        <p:spPr>
          <a:xfrm>
            <a:off x="1510538" y="3884414"/>
            <a:ext cx="3044952"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Understanding the data</a:t>
            </a:r>
            <a:endParaRPr lang="en-IN" dirty="0">
              <a:latin typeface="Cambria" panose="02040503050406030204" pitchFamily="18" charset="0"/>
              <a:ea typeface="Cambria" panose="02040503050406030204" pitchFamily="18" charset="0"/>
            </a:endParaRPr>
          </a:p>
        </p:txBody>
      </p:sp>
      <p:sp>
        <p:nvSpPr>
          <p:cNvPr id="59" name="TextBox 58">
            <a:extLst>
              <a:ext uri="{FF2B5EF4-FFF2-40B4-BE49-F238E27FC236}">
                <a16:creationId xmlns:a16="http://schemas.microsoft.com/office/drawing/2014/main" id="{6C9E8DEA-A5C1-AAAB-1764-AD83D938B0EC}"/>
              </a:ext>
            </a:extLst>
          </p:cNvPr>
          <p:cNvSpPr txBox="1"/>
          <p:nvPr/>
        </p:nvSpPr>
        <p:spPr>
          <a:xfrm>
            <a:off x="1513840" y="4253746"/>
            <a:ext cx="3278124" cy="738664"/>
          </a:xfrm>
          <a:prstGeom prst="rect">
            <a:avLst/>
          </a:prstGeom>
          <a:noFill/>
        </p:spPr>
        <p:txBody>
          <a:bodyPr wrap="square" rtlCol="0">
            <a:spAutoFit/>
          </a:bodyPr>
          <a:lstStyle/>
          <a:p>
            <a:r>
              <a:rPr lang="en-US" sz="1400" dirty="0"/>
              <a:t>By the use of matplotlib, visualize the results in graphs , pie charts , histogram , scatter graph</a:t>
            </a:r>
            <a:endParaRPr lang="en-IN" sz="1400" dirty="0"/>
          </a:p>
        </p:txBody>
      </p:sp>
      <p:sp>
        <p:nvSpPr>
          <p:cNvPr id="61" name="Rectangle: Rounded Corners 60">
            <a:extLst>
              <a:ext uri="{FF2B5EF4-FFF2-40B4-BE49-F238E27FC236}">
                <a16:creationId xmlns:a16="http://schemas.microsoft.com/office/drawing/2014/main" id="{6169EA94-FA7C-75DC-B84C-4C041E0151DE}"/>
              </a:ext>
            </a:extLst>
          </p:cNvPr>
          <p:cNvSpPr/>
          <p:nvPr/>
        </p:nvSpPr>
        <p:spPr>
          <a:xfrm>
            <a:off x="6480048" y="3717036"/>
            <a:ext cx="4480560" cy="1325880"/>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Oval 62">
            <a:extLst>
              <a:ext uri="{FF2B5EF4-FFF2-40B4-BE49-F238E27FC236}">
                <a16:creationId xmlns:a16="http://schemas.microsoft.com/office/drawing/2014/main" id="{9D1437C6-CCDC-0525-5DCD-5FD37B006494}"/>
              </a:ext>
            </a:extLst>
          </p:cNvPr>
          <p:cNvSpPr/>
          <p:nvPr/>
        </p:nvSpPr>
        <p:spPr>
          <a:xfrm>
            <a:off x="6748272" y="3822192"/>
            <a:ext cx="512064" cy="493776"/>
          </a:xfrm>
          <a:prstGeom prst="ellipse">
            <a:avLst/>
          </a:prstGeom>
          <a:solidFill>
            <a:schemeClr val="accent6">
              <a:lumMod val="60000"/>
              <a:lumOff val="4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65" name="TextBox 64">
            <a:extLst>
              <a:ext uri="{FF2B5EF4-FFF2-40B4-BE49-F238E27FC236}">
                <a16:creationId xmlns:a16="http://schemas.microsoft.com/office/drawing/2014/main" id="{CE433207-25BC-A245-F55C-AA0946ACA604}"/>
              </a:ext>
            </a:extLst>
          </p:cNvPr>
          <p:cNvSpPr txBox="1"/>
          <p:nvPr/>
        </p:nvSpPr>
        <p:spPr>
          <a:xfrm>
            <a:off x="7280148" y="3842605"/>
            <a:ext cx="3044952"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Observation of the result</a:t>
            </a:r>
            <a:endParaRPr lang="en-IN" dirty="0">
              <a:latin typeface="Cambria" panose="02040503050406030204" pitchFamily="18" charset="0"/>
              <a:ea typeface="Cambria" panose="02040503050406030204" pitchFamily="18" charset="0"/>
            </a:endParaRPr>
          </a:p>
        </p:txBody>
      </p:sp>
      <p:sp>
        <p:nvSpPr>
          <p:cNvPr id="67" name="TextBox 66">
            <a:extLst>
              <a:ext uri="{FF2B5EF4-FFF2-40B4-BE49-F238E27FC236}">
                <a16:creationId xmlns:a16="http://schemas.microsoft.com/office/drawing/2014/main" id="{8ADAE291-451A-DF21-29B6-BE0E15477BF5}"/>
              </a:ext>
            </a:extLst>
          </p:cNvPr>
          <p:cNvSpPr txBox="1"/>
          <p:nvPr/>
        </p:nvSpPr>
        <p:spPr>
          <a:xfrm>
            <a:off x="7280148" y="4211937"/>
            <a:ext cx="3278124" cy="523220"/>
          </a:xfrm>
          <a:prstGeom prst="rect">
            <a:avLst/>
          </a:prstGeom>
          <a:noFill/>
        </p:spPr>
        <p:txBody>
          <a:bodyPr wrap="square" rtlCol="0">
            <a:spAutoFit/>
          </a:bodyPr>
          <a:lstStyle/>
          <a:p>
            <a:r>
              <a:rPr lang="en-US" sz="1400" dirty="0"/>
              <a:t>Write a meaningful conclusion that can be drawn from the result </a:t>
            </a:r>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FCCA00F-E6C6-5686-B63F-CC6AD5F9373F}"/>
              </a:ext>
            </a:extLst>
          </p:cNvPr>
          <p:cNvSpPr txBox="1"/>
          <p:nvPr/>
        </p:nvSpPr>
        <p:spPr>
          <a:xfrm>
            <a:off x="179672" y="209465"/>
            <a:ext cx="9406467" cy="575733"/>
          </a:xfrm>
          <a:prstGeom prst="rect">
            <a:avLst/>
          </a:prstGeom>
          <a:noFill/>
        </p:spPr>
        <p:txBody>
          <a:bodyPr wrap="square" rtlCol="0">
            <a:spAutoFit/>
          </a:bodyPr>
          <a:lstStyle/>
          <a:p>
            <a:r>
              <a:rPr lang="en-US" sz="3000" b="1" dirty="0">
                <a:latin typeface="Cambria" panose="02040503050406030204" pitchFamily="18" charset="0"/>
                <a:ea typeface="Cambria" panose="02040503050406030204" pitchFamily="18" charset="0"/>
              </a:rPr>
              <a:t>Data Overview</a:t>
            </a:r>
            <a:endParaRPr lang="en-IN" sz="3000" b="1" dirty="0">
              <a:latin typeface="Cambria" panose="02040503050406030204" pitchFamily="18" charset="0"/>
              <a:ea typeface="Cambria" panose="02040503050406030204" pitchFamily="18" charset="0"/>
            </a:endParaRPr>
          </a:p>
        </p:txBody>
      </p:sp>
      <p:sp>
        <p:nvSpPr>
          <p:cNvPr id="12" name="Text 2">
            <a:extLst>
              <a:ext uri="{FF2B5EF4-FFF2-40B4-BE49-F238E27FC236}">
                <a16:creationId xmlns:a16="http://schemas.microsoft.com/office/drawing/2014/main" id="{FA788B84-3F15-5DF6-509C-3B98A915AFD0}"/>
              </a:ext>
            </a:extLst>
          </p:cNvPr>
          <p:cNvSpPr txBox="1"/>
          <p:nvPr/>
        </p:nvSpPr>
        <p:spPr>
          <a:xfrm>
            <a:off x="304800" y="1409191"/>
            <a:ext cx="2743200" cy="640080"/>
          </a:xfrm>
          <a:prstGeom prst="rect">
            <a:avLst/>
          </a:prstGeom>
          <a:noFill/>
          <a:ln/>
        </p:spPr>
        <p:txBody>
          <a:bodyPr wrap="square" lIns="0" tIns="0" rIns="0" bIns="0" rtlCol="0" anchor="ctr"/>
          <a:lstStyle/>
          <a:p>
            <a:pPr marL="0" indent="0">
              <a:buNone/>
            </a:pPr>
            <a:r>
              <a:rPr lang="en-US" sz="3400" b="1" dirty="0">
                <a:solidFill>
                  <a:srgbClr val="1B8A5A"/>
                </a:solidFill>
                <a:latin typeface="Cambria" pitchFamily="34" charset="0"/>
                <a:ea typeface="Cambria" pitchFamily="34" charset="-122"/>
                <a:cs typeface="Cambria" pitchFamily="34" charset="-120"/>
              </a:rPr>
              <a:t>10,841</a:t>
            </a:r>
            <a:endParaRPr lang="en-US" sz="3400" dirty="0"/>
          </a:p>
        </p:txBody>
      </p:sp>
      <p:sp>
        <p:nvSpPr>
          <p:cNvPr id="14" name="Text 3">
            <a:extLst>
              <a:ext uri="{FF2B5EF4-FFF2-40B4-BE49-F238E27FC236}">
                <a16:creationId xmlns:a16="http://schemas.microsoft.com/office/drawing/2014/main" id="{30EE8322-C03C-A877-E633-7E0B24CC5C78}"/>
              </a:ext>
            </a:extLst>
          </p:cNvPr>
          <p:cNvSpPr txBox="1"/>
          <p:nvPr/>
        </p:nvSpPr>
        <p:spPr>
          <a:xfrm>
            <a:off x="381000" y="1999148"/>
            <a:ext cx="2743200" cy="274320"/>
          </a:xfrm>
          <a:prstGeom prst="rect">
            <a:avLst/>
          </a:prstGeom>
          <a:noFill/>
          <a:ln/>
        </p:spPr>
        <p:txBody>
          <a:bodyPr wrap="square" lIns="0" tIns="0" rIns="0" bIns="0" rtlCol="0" anchor="ctr"/>
          <a:lstStyle/>
          <a:p>
            <a:pPr marL="0" indent="0">
              <a:buNone/>
            </a:pPr>
            <a:r>
              <a:rPr lang="en-US" sz="1100" b="1" kern="0" spc="100" dirty="0">
                <a:solidFill>
                  <a:srgbClr val="6B7278"/>
                </a:solidFill>
                <a:latin typeface="Calibri" pitchFamily="34" charset="0"/>
                <a:ea typeface="Calibri" pitchFamily="34" charset="-122"/>
                <a:cs typeface="Calibri" pitchFamily="34" charset="-120"/>
              </a:rPr>
              <a:t>APP RECORDS</a:t>
            </a:r>
            <a:endParaRPr lang="en-US" sz="1100" dirty="0"/>
          </a:p>
        </p:txBody>
      </p:sp>
      <p:sp>
        <p:nvSpPr>
          <p:cNvPr id="16" name="Text 4">
            <a:extLst>
              <a:ext uri="{FF2B5EF4-FFF2-40B4-BE49-F238E27FC236}">
                <a16:creationId xmlns:a16="http://schemas.microsoft.com/office/drawing/2014/main" id="{E35C9D69-28D9-985C-FE79-D44300CF97B5}"/>
              </a:ext>
            </a:extLst>
          </p:cNvPr>
          <p:cNvSpPr txBox="1"/>
          <p:nvPr/>
        </p:nvSpPr>
        <p:spPr>
          <a:xfrm>
            <a:off x="304800" y="2721524"/>
            <a:ext cx="2743200" cy="640080"/>
          </a:xfrm>
          <a:prstGeom prst="rect">
            <a:avLst/>
          </a:prstGeom>
          <a:noFill/>
          <a:ln/>
        </p:spPr>
        <p:txBody>
          <a:bodyPr wrap="square" lIns="0" tIns="0" rIns="0" bIns="0" rtlCol="0" anchor="ctr"/>
          <a:lstStyle/>
          <a:p>
            <a:pPr marL="0" indent="0">
              <a:buNone/>
            </a:pPr>
            <a:r>
              <a:rPr lang="en-US" sz="3400" b="1" dirty="0">
                <a:solidFill>
                  <a:srgbClr val="1B8A5A"/>
                </a:solidFill>
                <a:latin typeface="Cambria" pitchFamily="34" charset="0"/>
                <a:ea typeface="Cambria" pitchFamily="34" charset="-122"/>
                <a:cs typeface="Cambria" pitchFamily="34" charset="-120"/>
              </a:rPr>
              <a:t>13</a:t>
            </a:r>
            <a:endParaRPr lang="en-US" sz="3400" dirty="0"/>
          </a:p>
        </p:txBody>
      </p:sp>
      <p:sp>
        <p:nvSpPr>
          <p:cNvPr id="18" name="Text 5">
            <a:extLst>
              <a:ext uri="{FF2B5EF4-FFF2-40B4-BE49-F238E27FC236}">
                <a16:creationId xmlns:a16="http://schemas.microsoft.com/office/drawing/2014/main" id="{9CBC08A3-935A-9728-33B9-9F7A30FEEA5E}"/>
              </a:ext>
            </a:extLst>
          </p:cNvPr>
          <p:cNvSpPr txBox="1"/>
          <p:nvPr/>
        </p:nvSpPr>
        <p:spPr>
          <a:xfrm>
            <a:off x="381000" y="3291840"/>
            <a:ext cx="2743200" cy="274320"/>
          </a:xfrm>
          <a:prstGeom prst="rect">
            <a:avLst/>
          </a:prstGeom>
          <a:noFill/>
          <a:ln/>
        </p:spPr>
        <p:txBody>
          <a:bodyPr wrap="square" lIns="0" tIns="0" rIns="0" bIns="0" rtlCol="0" anchor="ctr"/>
          <a:lstStyle/>
          <a:p>
            <a:pPr marL="0" indent="0">
              <a:buNone/>
            </a:pPr>
            <a:r>
              <a:rPr lang="en-US" sz="1100" b="1" kern="0" spc="100" dirty="0">
                <a:solidFill>
                  <a:srgbClr val="6B7278"/>
                </a:solidFill>
                <a:latin typeface="Calibri" pitchFamily="34" charset="0"/>
                <a:ea typeface="Calibri" pitchFamily="34" charset="-122"/>
                <a:cs typeface="Calibri" pitchFamily="34" charset="-120"/>
              </a:rPr>
              <a:t>ATTRIBUTES</a:t>
            </a:r>
            <a:endParaRPr lang="en-US" sz="1100" dirty="0"/>
          </a:p>
        </p:txBody>
      </p:sp>
      <p:sp>
        <p:nvSpPr>
          <p:cNvPr id="22" name="Text 6">
            <a:extLst>
              <a:ext uri="{FF2B5EF4-FFF2-40B4-BE49-F238E27FC236}">
                <a16:creationId xmlns:a16="http://schemas.microsoft.com/office/drawing/2014/main" id="{D4CD5A97-C00A-CDED-9B34-3A8E4D7015AA}"/>
              </a:ext>
            </a:extLst>
          </p:cNvPr>
          <p:cNvSpPr txBox="1"/>
          <p:nvPr/>
        </p:nvSpPr>
        <p:spPr>
          <a:xfrm>
            <a:off x="342900" y="3931920"/>
            <a:ext cx="2743200" cy="640080"/>
          </a:xfrm>
          <a:prstGeom prst="rect">
            <a:avLst/>
          </a:prstGeom>
          <a:noFill/>
          <a:ln/>
        </p:spPr>
        <p:txBody>
          <a:bodyPr wrap="square" lIns="0" tIns="0" rIns="0" bIns="0" rtlCol="0" anchor="ctr"/>
          <a:lstStyle/>
          <a:p>
            <a:pPr marL="0" indent="0">
              <a:buNone/>
            </a:pPr>
            <a:r>
              <a:rPr lang="en-US" sz="3400" b="1" dirty="0">
                <a:solidFill>
                  <a:srgbClr val="1B8A5A"/>
                </a:solidFill>
                <a:latin typeface="Cambria" pitchFamily="34" charset="0"/>
                <a:ea typeface="Cambria" pitchFamily="34" charset="-122"/>
                <a:cs typeface="Cambria" pitchFamily="34" charset="-120"/>
              </a:rPr>
              <a:t>33</a:t>
            </a:r>
            <a:endParaRPr lang="en-US" sz="3400" dirty="0"/>
          </a:p>
        </p:txBody>
      </p:sp>
      <p:sp>
        <p:nvSpPr>
          <p:cNvPr id="24" name="Text 7">
            <a:extLst>
              <a:ext uri="{FF2B5EF4-FFF2-40B4-BE49-F238E27FC236}">
                <a16:creationId xmlns:a16="http://schemas.microsoft.com/office/drawing/2014/main" id="{4FD4CB18-ACAE-4307-0759-412F5D8F8316}"/>
              </a:ext>
            </a:extLst>
          </p:cNvPr>
          <p:cNvSpPr txBox="1"/>
          <p:nvPr/>
        </p:nvSpPr>
        <p:spPr>
          <a:xfrm>
            <a:off x="381000" y="4498340"/>
            <a:ext cx="2743200" cy="274320"/>
          </a:xfrm>
          <a:prstGeom prst="rect">
            <a:avLst/>
          </a:prstGeom>
          <a:noFill/>
          <a:ln/>
        </p:spPr>
        <p:txBody>
          <a:bodyPr wrap="square" lIns="0" tIns="0" rIns="0" bIns="0" rtlCol="0" anchor="ctr"/>
          <a:lstStyle/>
          <a:p>
            <a:pPr marL="0" indent="0">
              <a:buNone/>
            </a:pPr>
            <a:r>
              <a:rPr lang="en-US" sz="1100" b="1" kern="0" spc="100" dirty="0">
                <a:solidFill>
                  <a:srgbClr val="6B7278"/>
                </a:solidFill>
                <a:latin typeface="Calibri" pitchFamily="34" charset="0"/>
                <a:ea typeface="Calibri" pitchFamily="34" charset="-122"/>
                <a:cs typeface="Calibri" pitchFamily="34" charset="-120"/>
              </a:rPr>
              <a:t>CATEGORIES</a:t>
            </a:r>
            <a:endParaRPr lang="en-US" sz="1100" dirty="0"/>
          </a:p>
        </p:txBody>
      </p:sp>
      <p:graphicFrame>
        <p:nvGraphicFramePr>
          <p:cNvPr id="25" name="Table 24">
            <a:extLst>
              <a:ext uri="{FF2B5EF4-FFF2-40B4-BE49-F238E27FC236}">
                <a16:creationId xmlns:a16="http://schemas.microsoft.com/office/drawing/2014/main" id="{A79FA342-A65F-8CDF-1076-30560B940A40}"/>
              </a:ext>
            </a:extLst>
          </p:cNvPr>
          <p:cNvGraphicFramePr>
            <a:graphicFrameLocks noGrp="1"/>
          </p:cNvGraphicFramePr>
          <p:nvPr>
            <p:extLst>
              <p:ext uri="{D42A27DB-BD31-4B8C-83A1-F6EECF244321}">
                <p14:modId xmlns:p14="http://schemas.microsoft.com/office/powerpoint/2010/main" val="2420212751"/>
              </p:ext>
            </p:extLst>
          </p:nvPr>
        </p:nvGraphicFramePr>
        <p:xfrm>
          <a:off x="3455467" y="814141"/>
          <a:ext cx="7613586" cy="5669280"/>
        </p:xfrm>
        <a:graphic>
          <a:graphicData uri="http://schemas.openxmlformats.org/drawingml/2006/table">
            <a:tbl>
              <a:tblPr firstRow="1" bandRow="1">
                <a:tableStyleId>{10A1B5D5-9B99-4C35-A422-299274C87663}</a:tableStyleId>
              </a:tblPr>
              <a:tblGrid>
                <a:gridCol w="3806793">
                  <a:extLst>
                    <a:ext uri="{9D8B030D-6E8A-4147-A177-3AD203B41FA5}">
                      <a16:colId xmlns:a16="http://schemas.microsoft.com/office/drawing/2014/main" val="930190880"/>
                    </a:ext>
                  </a:extLst>
                </a:gridCol>
                <a:gridCol w="3806793">
                  <a:extLst>
                    <a:ext uri="{9D8B030D-6E8A-4147-A177-3AD203B41FA5}">
                      <a16:colId xmlns:a16="http://schemas.microsoft.com/office/drawing/2014/main" val="547323850"/>
                    </a:ext>
                  </a:extLst>
                </a:gridCol>
              </a:tblGrid>
              <a:tr h="342735">
                <a:tc>
                  <a:txBody>
                    <a:bodyPr/>
                    <a:lstStyle/>
                    <a:p>
                      <a:r>
                        <a:rPr lang="en-US" dirty="0"/>
                        <a:t>Column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Description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956653"/>
                  </a:ext>
                </a:extLst>
              </a:tr>
              <a:tr h="342735">
                <a:tc>
                  <a:txBody>
                    <a:bodyPr/>
                    <a:lstStyle/>
                    <a:p>
                      <a:r>
                        <a:rPr lang="en-US" dirty="0"/>
                        <a:t>App</a:t>
                      </a:r>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Name of the application</a:t>
                      </a:r>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36978329"/>
                  </a:ext>
                </a:extLst>
              </a:tr>
              <a:tr h="342735">
                <a:tc>
                  <a:txBody>
                    <a:bodyPr/>
                    <a:lstStyle/>
                    <a:p>
                      <a:r>
                        <a:rPr lang="en-US" dirty="0"/>
                        <a:t>Category</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Type of the application, ex:- Game</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53621574"/>
                  </a:ext>
                </a:extLst>
              </a:tr>
              <a:tr h="342735">
                <a:tc>
                  <a:txBody>
                    <a:bodyPr/>
                    <a:lstStyle/>
                    <a:p>
                      <a:r>
                        <a:rPr lang="en-US" dirty="0"/>
                        <a:t>Ratings</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Score given by the user [1-5]</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21298419"/>
                  </a:ext>
                </a:extLst>
              </a:tr>
              <a:tr h="342735">
                <a:tc>
                  <a:txBody>
                    <a:bodyPr/>
                    <a:lstStyle/>
                    <a:p>
                      <a:r>
                        <a:rPr lang="en-US" dirty="0"/>
                        <a:t>Reviews</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Comments given by the users</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82274151"/>
                  </a:ext>
                </a:extLst>
              </a:tr>
              <a:tr h="342735">
                <a:tc>
                  <a:txBody>
                    <a:bodyPr/>
                    <a:lstStyle/>
                    <a:p>
                      <a:r>
                        <a:rPr lang="en-US" dirty="0"/>
                        <a:t>Size</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Storage value of the application </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59933807"/>
                  </a:ext>
                </a:extLst>
              </a:tr>
              <a:tr h="342735">
                <a:tc>
                  <a:txBody>
                    <a:bodyPr/>
                    <a:lstStyle/>
                    <a:p>
                      <a:r>
                        <a:rPr lang="en-US" dirty="0"/>
                        <a:t>Installs </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Total users of the application</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12575921"/>
                  </a:ext>
                </a:extLst>
              </a:tr>
              <a:tr h="342735">
                <a:tc>
                  <a:txBody>
                    <a:bodyPr/>
                    <a:lstStyle/>
                    <a:p>
                      <a:r>
                        <a:rPr lang="en-US" dirty="0"/>
                        <a:t>Type of application</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Free or Paid application</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28780631"/>
                  </a:ext>
                </a:extLst>
              </a:tr>
              <a:tr h="599785">
                <a:tc>
                  <a:txBody>
                    <a:bodyPr/>
                    <a:lstStyle/>
                    <a:p>
                      <a:r>
                        <a:rPr lang="en-US" dirty="0"/>
                        <a:t>Price </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Amount to be paid to use the application</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64259437"/>
                  </a:ext>
                </a:extLst>
              </a:tr>
              <a:tr h="351817">
                <a:tc>
                  <a:txBody>
                    <a:bodyPr/>
                    <a:lstStyle/>
                    <a:p>
                      <a:r>
                        <a:rPr lang="en-US" dirty="0"/>
                        <a:t>Content Rating</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Suitable for the age group </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30676855"/>
                  </a:ext>
                </a:extLst>
              </a:tr>
              <a:tr h="351817">
                <a:tc>
                  <a:txBody>
                    <a:bodyPr/>
                    <a:lstStyle/>
                    <a:p>
                      <a:r>
                        <a:rPr lang="en-US" dirty="0"/>
                        <a:t>Genres</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One or more sub groups</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11223730"/>
                  </a:ext>
                </a:extLst>
              </a:tr>
              <a:tr h="342735">
                <a:tc>
                  <a:txBody>
                    <a:bodyPr/>
                    <a:lstStyle/>
                    <a:p>
                      <a:r>
                        <a:rPr lang="en-US" dirty="0"/>
                        <a:t>Last Update</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Date of most recent update</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85885399"/>
                  </a:ext>
                </a:extLst>
              </a:tr>
              <a:tr h="342735">
                <a:tc>
                  <a:txBody>
                    <a:bodyPr/>
                    <a:lstStyle/>
                    <a:p>
                      <a:r>
                        <a:rPr lang="en-US" dirty="0"/>
                        <a:t>Current Version</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The most latest version </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78701498"/>
                  </a:ext>
                </a:extLst>
              </a:tr>
              <a:tr h="599785">
                <a:tc>
                  <a:txBody>
                    <a:bodyPr/>
                    <a:lstStyle/>
                    <a:p>
                      <a:r>
                        <a:rPr lang="en-US" dirty="0"/>
                        <a:t>Android Version</a:t>
                      </a:r>
                      <a:endParaRPr lang="en-IN" dirty="0"/>
                    </a:p>
                  </a:txBody>
                  <a:tcPr>
                    <a:lnR w="12700" cap="flat" cmpd="sng" algn="ctr">
                      <a:solidFill>
                        <a:schemeClr val="tx1"/>
                      </a:solidFill>
                      <a:prstDash val="solid"/>
                      <a:round/>
                      <a:headEnd type="none" w="med" len="med"/>
                      <a:tailEnd type="none" w="med" len="med"/>
                    </a:lnR>
                  </a:tcPr>
                </a:tc>
                <a:tc>
                  <a:txBody>
                    <a:bodyPr/>
                    <a:lstStyle/>
                    <a:p>
                      <a:r>
                        <a:rPr lang="en-US" dirty="0"/>
                        <a:t>Minimum version required for smooth operation of the application</a:t>
                      </a:r>
                      <a:endParaRPr lang="en-I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11508485"/>
                  </a:ext>
                </a:extLst>
              </a:tr>
            </a:tbl>
          </a:graphicData>
        </a:graphic>
      </p:graphicFrame>
    </p:spTree>
    <p:extLst>
      <p:ext uri="{BB962C8B-B14F-4D97-AF65-F5344CB8AC3E}">
        <p14:creationId xmlns:p14="http://schemas.microsoft.com/office/powerpoint/2010/main" val="3933458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2940380-D656-83FE-E7B6-86C7FE861CCB}"/>
              </a:ext>
            </a:extLst>
          </p:cNvPr>
          <p:cNvSpPr txBox="1"/>
          <p:nvPr/>
        </p:nvSpPr>
        <p:spPr>
          <a:xfrm>
            <a:off x="396902" y="71562"/>
            <a:ext cx="11064240"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2B2F33"/>
                </a:solidFill>
                <a:latin typeface="Cambria" pitchFamily="34" charset="0"/>
                <a:ea typeface="Cambria" pitchFamily="34" charset="-122"/>
                <a:cs typeface="Cambria" pitchFamily="34" charset="-120"/>
              </a:rPr>
              <a:t>Apps are concentrated in a few categories</a:t>
            </a:r>
            <a:endParaRPr lang="en-US" sz="3000" dirty="0"/>
          </a:p>
        </p:txBody>
      </p:sp>
      <p:graphicFrame>
        <p:nvGraphicFramePr>
          <p:cNvPr id="8" name="Chart 0">
            <a:extLst>
              <a:ext uri="{FF2B5EF4-FFF2-40B4-BE49-F238E27FC236}">
                <a16:creationId xmlns:a16="http://schemas.microsoft.com/office/drawing/2014/main" id="{4CFD1E22-AEFE-4AB0-B297-FF305B63FB23}"/>
              </a:ext>
            </a:extLst>
          </p:cNvPr>
          <p:cNvGraphicFramePr/>
          <p:nvPr>
            <p:extLst>
              <p:ext uri="{D42A27DB-BD31-4B8C-83A1-F6EECF244321}">
                <p14:modId xmlns:p14="http://schemas.microsoft.com/office/powerpoint/2010/main" val="3638502269"/>
              </p:ext>
            </p:extLst>
          </p:nvPr>
        </p:nvGraphicFramePr>
        <p:xfrm>
          <a:off x="548640" y="891153"/>
          <a:ext cx="10385414" cy="53724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173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E8C91DD4-CB6C-41D6-6928-72B638DC6F06}"/>
              </a:ext>
            </a:extLst>
          </p:cNvPr>
          <p:cNvGraphicFramePr/>
          <p:nvPr>
            <p:extLst>
              <p:ext uri="{D42A27DB-BD31-4B8C-83A1-F6EECF244321}">
                <p14:modId xmlns:p14="http://schemas.microsoft.com/office/powerpoint/2010/main" val="3635715958"/>
              </p:ext>
            </p:extLst>
          </p:nvPr>
        </p:nvGraphicFramePr>
        <p:xfrm>
          <a:off x="308416" y="1394848"/>
          <a:ext cx="4206240"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1D88B153-CC1B-71D5-1FBE-5D64C840C246}"/>
              </a:ext>
            </a:extLst>
          </p:cNvPr>
          <p:cNvSpPr txBox="1"/>
          <p:nvPr/>
        </p:nvSpPr>
        <p:spPr>
          <a:xfrm>
            <a:off x="364210" y="604434"/>
            <a:ext cx="9632197" cy="55019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BB96DC76-CA94-D710-4F76-0CA88604E17B}"/>
              </a:ext>
            </a:extLst>
          </p:cNvPr>
          <p:cNvSpPr txBox="1"/>
          <p:nvPr/>
        </p:nvSpPr>
        <p:spPr>
          <a:xfrm>
            <a:off x="247974" y="364210"/>
            <a:ext cx="9957660" cy="553998"/>
          </a:xfrm>
          <a:prstGeom prst="rect">
            <a:avLst/>
          </a:prstGeom>
          <a:noFill/>
        </p:spPr>
        <p:txBody>
          <a:bodyPr wrap="square" rtlCol="0">
            <a:spAutoFit/>
          </a:bodyPr>
          <a:lstStyle/>
          <a:p>
            <a:r>
              <a:rPr lang="en-US" sz="3000" b="1" dirty="0">
                <a:latin typeface="Cambria" panose="02040503050406030204" pitchFamily="18" charset="0"/>
                <a:ea typeface="Cambria" panose="02040503050406030204" pitchFamily="18" charset="0"/>
              </a:rPr>
              <a:t>Pricing of type of app</a:t>
            </a:r>
            <a:endParaRPr lang="en-IN" sz="3000" b="1" dirty="0">
              <a:latin typeface="Cambria" panose="02040503050406030204" pitchFamily="18" charset="0"/>
              <a:ea typeface="Cambria" panose="02040503050406030204" pitchFamily="18" charset="0"/>
            </a:endParaRPr>
          </a:p>
        </p:txBody>
      </p:sp>
      <p:sp>
        <p:nvSpPr>
          <p:cNvPr id="8" name="Oval 7">
            <a:extLst>
              <a:ext uri="{FF2B5EF4-FFF2-40B4-BE49-F238E27FC236}">
                <a16:creationId xmlns:a16="http://schemas.microsoft.com/office/drawing/2014/main" id="{82C95D1F-FFD2-BACE-403F-6081E714E48D}"/>
              </a:ext>
            </a:extLst>
          </p:cNvPr>
          <p:cNvSpPr/>
          <p:nvPr/>
        </p:nvSpPr>
        <p:spPr>
          <a:xfrm>
            <a:off x="5974597" y="1472339"/>
            <a:ext cx="565688" cy="55019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9" name="TextBox 8">
            <a:extLst>
              <a:ext uri="{FF2B5EF4-FFF2-40B4-BE49-F238E27FC236}">
                <a16:creationId xmlns:a16="http://schemas.microsoft.com/office/drawing/2014/main" id="{18CDA05B-166C-6F15-83CB-F90F46C43923}"/>
              </a:ext>
            </a:extLst>
          </p:cNvPr>
          <p:cNvSpPr txBox="1"/>
          <p:nvPr/>
        </p:nvSpPr>
        <p:spPr>
          <a:xfrm>
            <a:off x="6625524" y="1472339"/>
            <a:ext cx="3851329" cy="646331"/>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92% of the apps are free and only 8% of the apps available on play store.</a:t>
            </a:r>
          </a:p>
        </p:txBody>
      </p:sp>
      <p:sp>
        <p:nvSpPr>
          <p:cNvPr id="11" name="Oval 10">
            <a:extLst>
              <a:ext uri="{FF2B5EF4-FFF2-40B4-BE49-F238E27FC236}">
                <a16:creationId xmlns:a16="http://schemas.microsoft.com/office/drawing/2014/main" id="{DDD190C5-4636-85C2-5823-89BE89D8F47A}"/>
              </a:ext>
            </a:extLst>
          </p:cNvPr>
          <p:cNvSpPr/>
          <p:nvPr/>
        </p:nvSpPr>
        <p:spPr>
          <a:xfrm>
            <a:off x="5974597" y="2828835"/>
            <a:ext cx="565688" cy="55019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2" name="TextBox 11">
            <a:extLst>
              <a:ext uri="{FF2B5EF4-FFF2-40B4-BE49-F238E27FC236}">
                <a16:creationId xmlns:a16="http://schemas.microsoft.com/office/drawing/2014/main" id="{EAC2F9B3-D516-790F-424B-25A495653D54}"/>
              </a:ext>
            </a:extLst>
          </p:cNvPr>
          <p:cNvSpPr txBox="1"/>
          <p:nvPr/>
        </p:nvSpPr>
        <p:spPr>
          <a:xfrm>
            <a:off x="6625524" y="2672801"/>
            <a:ext cx="3440624" cy="92333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cs typeface="Calibri" pitchFamily="34" charset="-120"/>
              </a:rPr>
              <a:t>Education and Family apps account for a large number of  share of paid listings.</a:t>
            </a:r>
            <a:endParaRPr lang="en-US" dirty="0">
              <a:latin typeface="Cambria" panose="02040503050406030204" pitchFamily="18" charset="0"/>
              <a:ea typeface="Cambria" panose="02040503050406030204" pitchFamily="18" charset="0"/>
            </a:endParaRPr>
          </a:p>
        </p:txBody>
      </p:sp>
      <p:sp>
        <p:nvSpPr>
          <p:cNvPr id="14" name="Oval 13">
            <a:extLst>
              <a:ext uri="{FF2B5EF4-FFF2-40B4-BE49-F238E27FC236}">
                <a16:creationId xmlns:a16="http://schemas.microsoft.com/office/drawing/2014/main" id="{36CF3C05-32B3-E8A1-4E66-FA991BF15A0F}"/>
              </a:ext>
            </a:extLst>
          </p:cNvPr>
          <p:cNvSpPr/>
          <p:nvPr/>
        </p:nvSpPr>
        <p:spPr>
          <a:xfrm>
            <a:off x="5974597" y="4104861"/>
            <a:ext cx="565688" cy="55019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15" name="TextBox 14">
            <a:extLst>
              <a:ext uri="{FF2B5EF4-FFF2-40B4-BE49-F238E27FC236}">
                <a16:creationId xmlns:a16="http://schemas.microsoft.com/office/drawing/2014/main" id="{3465476C-B5BB-4447-4F30-1682FB7D63A8}"/>
              </a:ext>
            </a:extLst>
          </p:cNvPr>
          <p:cNvSpPr txBox="1"/>
          <p:nvPr/>
        </p:nvSpPr>
        <p:spPr>
          <a:xfrm>
            <a:off x="6726263" y="4012713"/>
            <a:ext cx="3649850" cy="1477328"/>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As the paid apps only have a marginal upper hand in terms of ratings over free apps, the price is not a correct measure to draw an actual conclusion.</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9354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74C615E-5554-6D6A-AB0F-04AB4066AD59}"/>
              </a:ext>
            </a:extLst>
          </p:cNvPr>
          <p:cNvSpPr txBox="1"/>
          <p:nvPr/>
        </p:nvSpPr>
        <p:spPr>
          <a:xfrm>
            <a:off x="347162" y="335539"/>
            <a:ext cx="11064240" cy="640080"/>
          </a:xfrm>
          <a:prstGeom prst="rect">
            <a:avLst/>
          </a:prstGeom>
          <a:noFill/>
          <a:ln/>
        </p:spPr>
        <p:txBody>
          <a:bodyPr wrap="square" lIns="0" tIns="0" rIns="0" bIns="0"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Key insights from the EDA</a:t>
            </a:r>
            <a:endParaRPr lang="en-US" sz="3000" dirty="0"/>
          </a:p>
        </p:txBody>
      </p:sp>
      <p:sp>
        <p:nvSpPr>
          <p:cNvPr id="4" name="TextBox 3">
            <a:extLst>
              <a:ext uri="{FF2B5EF4-FFF2-40B4-BE49-F238E27FC236}">
                <a16:creationId xmlns:a16="http://schemas.microsoft.com/office/drawing/2014/main" id="{08603BE4-F80E-7AD9-D05F-822CA896E805}"/>
              </a:ext>
            </a:extLst>
          </p:cNvPr>
          <p:cNvSpPr txBox="1"/>
          <p:nvPr/>
        </p:nvSpPr>
        <p:spPr>
          <a:xfrm>
            <a:off x="223109" y="1166842"/>
            <a:ext cx="11522989" cy="5078313"/>
          </a:xfrm>
          <a:prstGeom prst="rect">
            <a:avLst/>
          </a:prstGeom>
          <a:noFill/>
        </p:spPr>
        <p:txBody>
          <a:bodyPr wrap="square" rtlCol="0">
            <a:spAutoFit/>
          </a:bodyPr>
          <a:lstStyle/>
          <a:p>
            <a:pPr marL="342900" indent="-342900">
              <a:buFont typeface="+mj-lt"/>
              <a:buAutoNum type="arabicPeriod"/>
            </a:pPr>
            <a:r>
              <a:rPr lang="en-US" dirty="0">
                <a:solidFill>
                  <a:srgbClr val="00B050"/>
                </a:solidFill>
              </a:rPr>
              <a:t>It shows that which type of app has got better average rating and we can see that even if the apps are charging for the services but the average rating of the services is better than those of the free apps which indicates that they are delivering the experience that people has paid for.</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shows that which app has got the most number of reviews on the Google Play store but we should not confuse it with number of positive reviews.</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shows that how many apps has received a rating of 5.0 on Google Play store.</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shows that how many app contains the word 'astrology' irrespective of how it is entered in the dataset.</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calculates the average rating of the apps which is given to them on Google Play store.</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shows the average rating each category have from highest to lowest.</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shows which type of apps are mostly available on the Google play store.</a:t>
            </a:r>
          </a:p>
          <a:p>
            <a:pPr marL="342900" indent="-342900">
              <a:buFont typeface="+mj-lt"/>
              <a:buAutoNum type="arabicPeriod"/>
            </a:pPr>
            <a:endParaRPr lang="en-US" dirty="0">
              <a:solidFill>
                <a:srgbClr val="00B050"/>
              </a:solidFill>
            </a:endParaRPr>
          </a:p>
          <a:p>
            <a:pPr marL="342900" indent="-342900">
              <a:buFont typeface="+mj-lt"/>
              <a:buAutoNum type="arabicPeriod"/>
            </a:pPr>
            <a:r>
              <a:rPr lang="en-US" dirty="0">
                <a:solidFill>
                  <a:srgbClr val="00B050"/>
                </a:solidFill>
              </a:rPr>
              <a:t>It calculates the total number of unique categories that each app can have.</a:t>
            </a:r>
          </a:p>
        </p:txBody>
      </p:sp>
    </p:spTree>
    <p:extLst>
      <p:ext uri="{BB962C8B-B14F-4D97-AF65-F5344CB8AC3E}">
        <p14:creationId xmlns:p14="http://schemas.microsoft.com/office/powerpoint/2010/main" val="413121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E60D11-B2FB-2ECD-6B70-D8AE3793CC35}"/>
              </a:ext>
            </a:extLst>
          </p:cNvPr>
          <p:cNvSpPr txBox="1"/>
          <p:nvPr/>
        </p:nvSpPr>
        <p:spPr>
          <a:xfrm>
            <a:off x="2955010" y="2812942"/>
            <a:ext cx="5943600" cy="1446550"/>
          </a:xfrm>
          <a:prstGeom prst="rect">
            <a:avLst/>
          </a:prstGeom>
          <a:noFill/>
        </p:spPr>
        <p:txBody>
          <a:bodyPr wrap="square" rtlCol="0">
            <a:spAutoFit/>
          </a:bodyPr>
          <a:lstStyle/>
          <a:p>
            <a:pPr algn="ctr"/>
            <a:r>
              <a:rPr lang="en-US" sz="8800" dirty="0">
                <a:latin typeface="Brush Script MT" panose="03060802040406070304" pitchFamily="66" charset="0"/>
              </a:rPr>
              <a:t>Thank You</a:t>
            </a:r>
            <a:endParaRPr lang="en-IN" sz="8800" dirty="0">
              <a:latin typeface="Brush Script MT" panose="03060802040406070304" pitchFamily="66" charset="0"/>
            </a:endParaRPr>
          </a:p>
        </p:txBody>
      </p:sp>
    </p:spTree>
    <p:extLst>
      <p:ext uri="{BB962C8B-B14F-4D97-AF65-F5344CB8AC3E}">
        <p14:creationId xmlns:p14="http://schemas.microsoft.com/office/powerpoint/2010/main" val="1173549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463</Words>
  <Application>Microsoft Office PowerPoint</Application>
  <PresentationFormat>Widescreen</PresentationFormat>
  <Paragraphs>79</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Brush Script MT</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hitesh mavani</dc:creator>
  <cp:lastModifiedBy>hitesh mavani</cp:lastModifiedBy>
  <cp:revision>4</cp:revision>
  <dcterms:created xsi:type="dcterms:W3CDTF">2026-09-05T15:09:27Z</dcterms:created>
  <dcterms:modified xsi:type="dcterms:W3CDTF">2026-09-06T05:11:42Z</dcterms:modified>
</cp:coreProperties>
</file>